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rimson Pro Bold" pitchFamily="2" charset="77"/>
      <p:regular r:id="rId11"/>
      <p:bold r:id="rId12"/>
    </p:embeddedFont>
    <p:embeddedFont>
      <p:font typeface="Crimson Pro SemiBold" pitchFamily="2" charset="77"/>
      <p:regular r:id="rId13"/>
      <p:bold r:id="rId14"/>
    </p:embeddedFont>
    <p:embeddedFont>
      <p:font typeface="Heebo" pitchFamily="2" charset="-79"/>
      <p:regular r:id="rId15"/>
    </p:embeddedFont>
    <p:embeddedFont>
      <p:font typeface="Heebo Bold" pitchFamily="2" charset="-79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437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modular, local, and demo-friendly. It works without paid APIs and falls back gracefully when optional models are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051" y="1265188"/>
            <a:ext cx="59438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Evidence Intelligence Copilot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1687785" y="1764878"/>
            <a:ext cx="5768355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Natural Language Technology</a:t>
            </a:r>
            <a:r>
              <a:rPr lang="en-US" sz="1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for Payment Accuracy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67519" y="224328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NLP, OCR, and RAG-based evidence review in healthcare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64991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4C4C4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6119" y="2878931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Vanaja Agarwal</a:t>
            </a:r>
            <a:endParaRPr lang="en-US" sz="11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 Carolina State University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Cotiviti Generative AI / NLP Research Internship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50379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and Cotiviti Relevance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21855"/>
            <a:ext cx="3902943" cy="1162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 teams must determine whether documentation supports diagnoses, procedures, and codes.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chart review is slow and inconsistent.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documentation creates rework and payment risk.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647605" y="2094309"/>
            <a:ext cx="4107135" cy="1610469"/>
          </a:xfrm>
          <a:prstGeom prst="roundRect">
            <a:avLst>
              <a:gd name="adj" fmla="val 132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89363" y="2236068"/>
            <a:ext cx="22627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Relevant workflow areas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89363" y="2599283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 accuracy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Coding validation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Chart review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Documentation sufficiency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40095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Background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094309"/>
            <a:ext cx="2662535" cy="1610469"/>
          </a:xfrm>
          <a:prstGeom prst="roundRect">
            <a:avLst>
              <a:gd name="adj" fmla="val 132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5781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Past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599283"/>
            <a:ext cx="23790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review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keyword search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rule-based NLP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basic OCR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3004" y="2094309"/>
            <a:ext cx="2747442" cy="1610469"/>
          </a:xfrm>
          <a:prstGeom prst="roundRect">
            <a:avLst>
              <a:gd name="adj" fmla="val 1320"/>
            </a:avLst>
          </a:prstGeom>
          <a:solidFill>
            <a:srgbClr val="0FA3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44763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Present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44763" y="2599283"/>
            <a:ext cx="2463924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clinical NLP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biomedical NER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transformer models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grounded retrieval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96893" y="2094309"/>
            <a:ext cx="2662535" cy="1610469"/>
          </a:xfrm>
          <a:prstGeom prst="roundRect">
            <a:avLst>
              <a:gd name="adj" fmla="val 132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38652" y="22360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38652" y="2599283"/>
            <a:ext cx="23790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multimodal LMMs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layout-aware chart intelligence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agentic reviewer workflows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42306"/>
            <a:ext cx="443440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Why This Use Case Matters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68810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Diagnoses may be affirmed, negated, or uncertain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Procedures may be claimed but not documented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Codes may appear without enough textual support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Records may be scanned, incomplete, or noisy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Reviewer trust requires evidence traceability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343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Proposed Solution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3127"/>
            <a:ext cx="3749055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Clinical Evidence Intelligence Copilot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1681535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Reviewer-facing local prototype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Uses synthetic clinical notes only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Human reviewer remains in control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67369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Main functions: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107754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 evidence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Detect negation and uncertainty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Check claim support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Flag missing documentation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Answer grounded questions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269"/>
            <a:ext cx="2838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POC Architecture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496119" y="714524"/>
            <a:ext cx="34696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Local POC workflow for evidence-grounded review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89112"/>
            <a:ext cx="2717229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1369" y="143410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Upload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989112"/>
            <a:ext cx="2717229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8598" y="143410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Extract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989112"/>
            <a:ext cx="2717229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25828" y="143410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Text Cleaning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1678186"/>
            <a:ext cx="2717229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369" y="212318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Sections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1678186"/>
            <a:ext cx="2717229" cy="381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308598" y="212318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Entities</a:t>
            </a:r>
            <a:endParaRPr lang="en-US" sz="9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2439219"/>
            <a:ext cx="4075881" cy="3810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91369" y="2884215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Negation</a:t>
            </a:r>
            <a:endParaRPr lang="en-US" sz="9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2439219"/>
            <a:ext cx="4075881" cy="3810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667250" y="2884215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Evidence Retrieval</a:t>
            </a:r>
            <a:endParaRPr lang="en-US" sz="9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119" y="3128293"/>
            <a:ext cx="4075881" cy="3810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91369" y="357328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Claim Check</a:t>
            </a:r>
            <a:endParaRPr lang="en-US" sz="9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128293"/>
            <a:ext cx="4075881" cy="38100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667250" y="357328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119" y="3889325"/>
            <a:ext cx="4075881" cy="3810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91369" y="4334321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Reviewer Summary</a:t>
            </a:r>
            <a:endParaRPr lang="en-US" sz="90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3889325"/>
            <a:ext cx="4075881" cy="3810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4667250" y="4334321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C4C4D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Export</a:t>
            </a:r>
            <a:endParaRPr lang="en-US" sz="900" dirty="0"/>
          </a:p>
        </p:txBody>
      </p:sp>
      <p:sp>
        <p:nvSpPr>
          <p:cNvPr id="26" name="Text 13"/>
          <p:cNvSpPr/>
          <p:nvPr/>
        </p:nvSpPr>
        <p:spPr>
          <a:xfrm>
            <a:off x="496119" y="4650358"/>
            <a:ext cx="8608963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00" dirty="0">
                <a:solidFill>
                  <a:srgbClr val="8A8F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 stack: Python, Streamlit, clinical NLP, OCR-aware ingestion, retrieval-based Q&amp;A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5644"/>
            <a:ext cx="468012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Demo Results and Validation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20701"/>
            <a:ext cx="2458343" cy="575816"/>
          </a:xfrm>
          <a:prstGeom prst="roundRect">
            <a:avLst>
              <a:gd name="adj" fmla="val 3693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109490"/>
            <a:ext cx="221456" cy="177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1092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Supported Scenario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655987"/>
            <a:ext cx="24583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Hypertension supported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ECG documented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I10 support reviewed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05101" y="1920701"/>
            <a:ext cx="2543249" cy="575816"/>
          </a:xfrm>
          <a:prstGeom prst="roundRect">
            <a:avLst>
              <a:gd name="adj" fmla="val 3693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59" y="2109490"/>
            <a:ext cx="221456" cy="1771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10074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Safe-Failure Scenarios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305101" y="2655987"/>
            <a:ext cx="2543249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Negated diagnosis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Unsupported procedure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signature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98989" y="1920701"/>
            <a:ext cx="2458343" cy="575816"/>
          </a:xfrm>
          <a:prstGeom prst="roundRect">
            <a:avLst>
              <a:gd name="adj" fmla="val 3693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748" y="2109490"/>
            <a:ext cx="221456" cy="17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03963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Evaluation Areas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98989" y="2655987"/>
            <a:ext cx="24583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Entity extraction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Negation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Claim support classification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Documentation completeness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Retrieval quality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0535"/>
            <a:ext cx="65318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Risks, Governance, and Recommendation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61096"/>
            <a:ext cx="24583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Hallucination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OCR errors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Privacy and PHI concerns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Over-automation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Coding correctness 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05101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05101" y="2461096"/>
            <a:ext cx="2543249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Synthetic data only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Evidence-grounded outputs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Human validation required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6893" y="1956122"/>
            <a:ext cx="2662535" cy="1886843"/>
          </a:xfrm>
          <a:prstGeom prst="roundRect">
            <a:avLst>
              <a:gd name="adj" fmla="val 112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38652" y="209788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38652" y="2461096"/>
            <a:ext cx="2379018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 in human-in-the-loop evidence intelligence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Keep final clinical, coding, and payment decisions with reviewers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339</Words>
  <Application>Microsoft Macintosh PowerPoint</Application>
  <PresentationFormat>On-screen Show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Crimson Pro SemiBold</vt:lpstr>
      <vt:lpstr>Heebo</vt:lpstr>
      <vt:lpstr>Arial</vt:lpstr>
      <vt:lpstr>Heebo Bold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Vanaja Binay Agarwal</cp:lastModifiedBy>
  <cp:revision>2</cp:revision>
  <dcterms:created xsi:type="dcterms:W3CDTF">2026-07-06T01:59:00Z</dcterms:created>
  <dcterms:modified xsi:type="dcterms:W3CDTF">2026-07-06T02:01:27Z</dcterms:modified>
</cp:coreProperties>
</file>